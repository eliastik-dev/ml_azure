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01  — 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Un séjour sur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trois</a:t>
            </a:r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est annulé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À l'enregistrement : estimer p(annulation) et décider d'appeler — ou non.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7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Logement vide quand l'annulation arrive trop tard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7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Seuil économique : </a:t>
            </a:r>
            <a:r>
              <a:rPr sz="17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p &gt; 0,18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7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Coût appel 6 € · succès 1/3 · gain 100 €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828800"/>
            <a:ext cx="73152" cy="1051560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02752" y="1828800"/>
            <a:ext cx="3127248" cy="105156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965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~1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séjours annulés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200400"/>
            <a:ext cx="73152" cy="1051560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2" y="3200400"/>
            <a:ext cx="3127248" cy="105156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337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p &gt; 0,18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40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seuil d'appel rentable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01  /  07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02  —  DONNÉES &amp; FUITE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Protocole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anti-fuite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112k</a:t>
            </a: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réservations → ~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84k</a:t>
            </a: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après dédoublonnage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Variables post-décision 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exclues</a:t>
            </a: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du modèle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Split 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chronologique</a:t>
            </a: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80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B0C0"/>
                </a:solidFill>
                <a:latin typeface="Archia"/>
                <a:cs typeface="Archia"/>
                <a:ea typeface="Archia"/>
              </a:rPr>
              <a:t>Exclues volontairement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926080"/>
            <a:ext cx="4114800" cy="36576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971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statut_dossier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364992"/>
            <a:ext cx="4114800" cy="36576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4107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date_statut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803904"/>
            <a:ext cx="4114800" cy="36576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849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jours_attente_confirmation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242816"/>
            <a:ext cx="4114800" cy="36576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2885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nb_modifications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681728"/>
            <a:ext cx="4114800" cy="36576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7274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logement_attribue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02  /  07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03  —  VARIABLES CLÉS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Signaux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métiers</a:t>
            </a:r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&amp; dérivées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212080" cy="310896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21208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Features dérivées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nuits totales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taille groupe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via agence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60320"/>
            <a:ext cx="5212080" cy="310896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560320"/>
            <a:ext cx="521208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Signaux métiers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garantie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canal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fidélité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■  historique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03  /  07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04  —  MÉTHODES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De la baseline au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boosting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Progression contrôlée jusqu'au modèle final empaqueté.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828800" cy="64008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B0C0"/>
                </a:solidFill>
                <a:latin typeface="Archia"/>
                <a:cs typeface="Archia"/>
                <a:ea typeface="Archia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2004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3108960"/>
            <a:ext cx="2194560" cy="64008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3218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B0C0"/>
                </a:solidFill>
                <a:latin typeface="Archia"/>
                <a:cs typeface="Archia"/>
                <a:ea typeface="Archia"/>
              </a:rPr>
              <a:t>Logistique ± dérivées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32004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8" y="3108960"/>
            <a:ext cx="1280160" cy="64008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2186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B0C0"/>
                </a:solidFill>
                <a:latin typeface="Archia"/>
                <a:cs typeface="Archia"/>
                <a:ea typeface="Archia"/>
              </a:rPr>
              <a:t>Arbres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2" y="3108960"/>
            <a:ext cx="1280160" cy="640080"/>
          </a:xfrm>
          <a:prstGeom prst="roundRect">
            <a:avLst/>
          </a:prstGeom>
          <a:solidFill>
            <a:srgbClr val="121C2E"/>
          </a:solidFill>
          <a:ln>
            <a:solidFill>
              <a:srgbClr val="3A5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2186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B0C0"/>
                </a:solidFill>
                <a:latin typeface="Archia"/>
                <a:cs typeface="Archia"/>
                <a:ea typeface="Archia"/>
              </a:rPr>
              <a:t>Forêt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20040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0496" y="3108960"/>
            <a:ext cx="2651760" cy="640080"/>
          </a:xfrm>
          <a:prstGeom prst="round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21F"/>
                </a:solidFill>
                <a:latin typeface="Archia"/>
                <a:cs typeface="Archia"/>
                <a:ea typeface="Archia"/>
              </a:rPr>
              <a:t>HistGradientBoosting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Modèle final : HGB dans un 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pipeline unique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Artefact livré : 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model.pkl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04  /  07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05  —  RÉSULTATS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Performance sur test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chronologique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02920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24328"/>
            <a:ext cx="5029200" cy="123444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≈ 0,83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502920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24328"/>
            <a:ext cx="5029200" cy="123444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≈ 0,60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AUPRC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Seuil </a:t>
            </a:r>
            <a:r>
              <a:rPr sz="18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0,18</a:t>
            </a: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: rappel des annulations vs volume d'appels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18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Peu de sur-apprentissage (régularisation + feuille min.)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05  /  07</a:t>
            </a:r>
          </a:p>
        </p:txBody>
      </p:sp>
      <p:sp>
        <p:nvSpPr>
          <p:cNvPr id="19" name="Oval 18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06  —  DÉMO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Produit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prêt</a:t>
            </a:r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à montrer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38328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15768"/>
            <a:ext cx="3383280" cy="201168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Gradio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Saisie + curseur de seuil → proba + recommandation appeler / ne pas appeler.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38328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715768"/>
            <a:ext cx="3383280" cy="201168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290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POST /predict — Pydantic, 422 si payload invalide.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651760"/>
            <a:ext cx="3383280" cy="64008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15768"/>
            <a:ext cx="3383280" cy="2011680"/>
          </a:xfrm>
          <a:prstGeom prst="rect">
            <a:avLst/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290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pytest vert — non-régression sur le chemin critique.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06  /  07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RÉSIDENCES AZUR  ·  GROUPE 2 MLV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SOUTENANCE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07  —  LIMITES &amp;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Vigilance &amp; </a:t>
            </a:r>
            <a:r>
              <a:rPr sz="4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prochaines</a:t>
            </a:r>
            <a:r>
              <a:rPr sz="4000" b="1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20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Dérive possible (politique tarifaire / canaux)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20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Calibration des probas, suivi drift, déploiement Spaces</a:t>
            </a:r>
          </a:p>
          <a:p>
            <a:pPr>
              <a:spcBef>
                <a:spcPts val="1000"/>
              </a:spcBef>
              <a:spcAft>
                <a:spcPts val="600"/>
              </a:spcAft>
              <a:buFont typeface="Archia"/>
              <a:buChar char="■"/>
              <a:buClr>
                <a:srgbClr val="BBFF34"/>
              </a:buClr>
              <a:buSzPct val="60"/>
            </a:pPr>
            <a:r>
              <a:rPr sz="20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Chaque membre peut répondre sur </a:t>
            </a:r>
            <a:r>
              <a:rPr sz="20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tout</a:t>
            </a:r>
            <a:r>
              <a:rPr sz="2000" b="0">
                <a:solidFill>
                  <a:srgbClr val="FFFFFF"/>
                </a:solidFill>
                <a:latin typeface="Archia"/>
                <a:cs typeface="Archia"/>
                <a:ea typeface="Archia"/>
              </a:rPr>
              <a:t> 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BFF34"/>
                </a:solidFill>
                <a:latin typeface="Archia"/>
                <a:cs typeface="Archia"/>
                <a:ea typeface="Archia"/>
              </a:rPr>
              <a:t>Merci — questions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881360" cy="13716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0C0"/>
                </a:solidFill>
                <a:latin typeface="Archia"/>
                <a:cs typeface="Archia"/>
                <a:ea typeface="Archia"/>
              </a:rPr>
              <a:t>07  /  07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76672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32704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88736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44768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6537960"/>
            <a:ext cx="109728" cy="109728"/>
          </a:xfrm>
          <a:prstGeom prst="ellipse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6537960"/>
            <a:ext cx="109728" cy="109728"/>
          </a:xfrm>
          <a:prstGeom prst="ellipse">
            <a:avLst/>
          </a:prstGeom>
          <a:solidFill>
            <a:srgbClr val="BBF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